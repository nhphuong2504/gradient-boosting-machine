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F4E79"/>
                </a:solidFill>
                <a:latin typeface="Calibri"/>
              </a:rPr>
              <a:t>Greedy Function Approximation: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F4E79"/>
                </a:solidFill>
                <a:latin typeface="Calibri"/>
              </a:rPr>
              <a:t>A Gradient Boosting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Jerome H. Friedman   ·   Annals of Statistics, 2001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Reading + from-scratch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LS Boost   ·   LAD TreeBoost   ·   M (Huber) TreeBoost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173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Why we need this paper — the problem and the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Calibri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The key insight: gradient descent in function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Calibri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Three regression algorithms: LS, LAD, Huber TreeBoost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Calibri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004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The terminal-region update — the practical heart of TreeBoost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Calibri"/>
              </a:rP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From-scratch implementation in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Calibri"/>
              </a:rP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3891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Experiments: convergence, robustness, shrinkage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Calibri"/>
              </a:rP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9834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What the results reveal &amp; the paper's lasting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The function-estimation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Given training data {(x_i, y_i)} for i = 1, …, N, find a function F : X → ℝ minimizing the expected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828800"/>
            <a:ext cx="54864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85c59ee357201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896" y="1938528"/>
            <a:ext cx="5783727" cy="694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926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Concrete losses: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Calibri"/>
              </a:rPr>
              <a:t>•  Regression:</a:t>
            </a:r>
          </a:p>
        </p:txBody>
      </p:sp>
      <p:pic>
        <p:nvPicPr>
          <p:cNvPr id="10" name="Picture 9" descr="06c484143d4649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310128"/>
            <a:ext cx="581025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38130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Calibri"/>
              </a:rPr>
              <a:t>•  Classification:</a:t>
            </a:r>
          </a:p>
        </p:txBody>
      </p:sp>
      <p:pic>
        <p:nvPicPr>
          <p:cNvPr id="12" name="Picture 11" descr="6e0e99c6b1d051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3813048"/>
            <a:ext cx="6260123" cy="457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2920" y="5074920"/>
            <a:ext cx="11155680" cy="105156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074920"/>
            <a:ext cx="54864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5074920"/>
            <a:ext cx="10927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>
                <a:solidFill>
                  <a:srgbClr val="1F2937"/>
                </a:solidFill>
                <a:latin typeface="Calibri"/>
              </a:rPr>
              <a:t>Most existing methods restrict F to a parametric family and tackle a hard joint optimization. This paper takes a non-parametric, stagewise route.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Where this paper sits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55321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Calibri"/>
              </a:rPr>
              <a:t>Before (1995–2000)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AdaBoost (Freund &amp; Schapire, 1996) — re-weights examples; tied to exponential loss.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LogitBoost (Friedman, Hastie, Tibshirani, 2000) — binomial likelihood via Newton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Basis-function methods: MARS, RBF networks, SVM, neural nets.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5532120" cy="4206240"/>
          </a:xfrm>
          <a:prstGeom prst="rect">
            <a:avLst/>
          </a:prstGeom>
          <a:solidFill>
            <a:srgbClr val="E8EE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Calibri"/>
              </a:rPr>
              <a:t>This 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92024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One unifying view: boosting is gradient descent in function space.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51460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Plug in any differentiable loss.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10896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Concrete algorithms for LS, LAD, Huber, and K-class logistic.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03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70332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Adds tools to interpret tree boosters.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After: XGBoost (2014), LightGBM (2017), CatBoost (2017) — all extend this paradigm.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Stagewise additive expansions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Approximate F by a sum of simple “weak learners”: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828800"/>
            <a:ext cx="54864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0ec0a7f3ce39c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08" y="1938528"/>
            <a:ext cx="4215504" cy="694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926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h(x ; a) — a small parametric function (e.g. a regression tree).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37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Joint optimization over all (β_m, a_m) is generally hard.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Calibri"/>
              </a:rPr>
              <a:t>Greedy stagewise alternative — at each step m: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343400"/>
            <a:ext cx="11155680" cy="109728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343400"/>
            <a:ext cx="54864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12de76cf1b2c5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869" y="4453128"/>
            <a:ext cx="6773782" cy="8778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Eq. (9) of the paper. Previous terms are frozen — no re-fitting.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The 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Boosting = numerical optimization in function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Treat F(x_i) at each training point as a free parameter. The negative gradient at iteration m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10424160" cy="118872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11680"/>
            <a:ext cx="54864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287431265743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055" y="2121408"/>
            <a:ext cx="7189410" cy="9692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337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These are the pseudo-responses: the direction in which moving F(x_i) most reduces the loss.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60520"/>
            <a:ext cx="11155680" cy="18288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160520"/>
            <a:ext cx="54864" cy="18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4160520"/>
            <a:ext cx="109270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>
                <a:solidFill>
                  <a:srgbClr val="1F2937"/>
                </a:solidFill>
                <a:latin typeface="Calibri"/>
              </a:rPr>
              <a:t>Why this matters:  the gradient is only defined at the training points. Fit a weak learner h(x ; a_m) to the pseudo-responses by least squares — that's the smooth, generalizable approximation to the unconstrained gradient.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Algorithm 1 — Gradient Boost (generic)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55680" cy="26060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904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1.</a:t>
            </a:r>
          </a:p>
        </p:txBody>
      </p:sp>
      <p:pic>
        <p:nvPicPr>
          <p:cNvPr id="6" name="Picture 5" descr="0297f25630710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90472"/>
            <a:ext cx="1518557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0" y="149047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# initialize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9052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2.</a:t>
            </a:r>
          </a:p>
        </p:txBody>
      </p:sp>
      <p:pic>
        <p:nvPicPr>
          <p:cNvPr id="9" name="Picture 8" descr="31f99f51e44fa1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90522"/>
            <a:ext cx="2728139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2905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3.</a:t>
            </a:r>
          </a:p>
        </p:txBody>
      </p:sp>
      <p:pic>
        <p:nvPicPr>
          <p:cNvPr id="11" name="Picture 10" descr="738bb34ce77389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2290572"/>
            <a:ext cx="2197048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0" y="229057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# pseudo-responses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9062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4.</a:t>
            </a:r>
          </a:p>
        </p:txBody>
      </p:sp>
      <p:pic>
        <p:nvPicPr>
          <p:cNvPr id="14" name="Picture 13" descr="5fafaf456705a7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2690622"/>
            <a:ext cx="1858191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26880" y="269062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# least-squares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906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5.</a:t>
            </a:r>
          </a:p>
        </p:txBody>
      </p:sp>
      <p:pic>
        <p:nvPicPr>
          <p:cNvPr id="17" name="Picture 16" descr="930fc0ce981aeb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3090672"/>
            <a:ext cx="2511334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26880" y="309067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# 1-D line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9072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6.</a:t>
            </a:r>
          </a:p>
        </p:txBody>
      </p:sp>
      <p:pic>
        <p:nvPicPr>
          <p:cNvPr id="20" name="Picture 19" descr="717e9553f834240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3490722"/>
            <a:ext cx="43334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26880" y="349072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#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605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Calibri"/>
              </a:rPr>
              <a:t>Line 3</a:t>
            </a:r>
            <a:r>
              <a:rPr sz="1600">
                <a:solidFill>
                  <a:srgbClr val="1F2937"/>
                </a:solidFill>
                <a:latin typeface="Calibri"/>
              </a:rPr>
              <a:t> is loss-specific. Everything else is the same machinery.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09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709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Calibri"/>
              </a:rPr>
              <a:t>Line 4</a:t>
            </a:r>
            <a:r>
              <a:rPr sz="1600">
                <a:solidFill>
                  <a:srgbClr val="1F2937"/>
                </a:solidFill>
                <a:latin typeface="Calibri"/>
              </a:rPr>
              <a:t> is least squares — fast and well-understood, regardless of the original loss.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57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257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Calibri"/>
              </a:rPr>
              <a:t>Line 5</a:t>
            </a:r>
            <a:r>
              <a:rPr sz="1600">
                <a:solidFill>
                  <a:srgbClr val="1F2937"/>
                </a:solidFill>
                <a:latin typeface="Calibri"/>
              </a:rPr>
              <a:t> is a 1-D line search in the original loss.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Algorithm 2 — LS Boost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With</a:t>
            </a:r>
          </a:p>
        </p:txBody>
      </p:sp>
      <p:pic>
        <p:nvPicPr>
          <p:cNvPr id="5" name="Picture 4" descr="948e94f8199862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25880"/>
            <a:ext cx="3042138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9202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Pseudo-response:</a:t>
            </a:r>
          </a:p>
        </p:txBody>
      </p:sp>
      <p:pic>
        <p:nvPicPr>
          <p:cNvPr id="8" name="Picture 7" descr="55edd316b743dc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920240"/>
            <a:ext cx="5660334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4231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Line 4: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2316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fits the current residuals — the line search becomes trivial.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Initial constant:</a:t>
            </a:r>
          </a:p>
        </p:txBody>
      </p:sp>
      <p:pic>
        <p:nvPicPr>
          <p:cNvPr id="14" name="Picture 13" descr="10f7d573b3fa2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926080"/>
            <a:ext cx="1425388" cy="457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02920" y="3383280"/>
            <a:ext cx="11155680" cy="7772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383280"/>
            <a:ext cx="54864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383280"/>
            <a:ext cx="10927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1F2937"/>
                </a:solidFill>
                <a:latin typeface="Calibri"/>
              </a:rPr>
              <a:t>Reduces to the classical “fit residuals iteratively” recipe — the reality check for the framework.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43400"/>
            <a:ext cx="11155680" cy="18288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1088136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nsolas"/>
              </a:rPr>
              <a:t># src/treeboost/losses.py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nsolas"/>
              </a:rPr>
              <a:t>class LeastSquaresLoss(Loss):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nsolas"/>
              </a:rPr>
              <a:t>    def initial_prediction(self, y):     return float(np.mean(y))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nsolas"/>
              </a:rPr>
              <a:t>    def negative_gradient(self, y, F):   return y - F            # residuals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nsolas"/>
              </a:rPr>
              <a:t>    def leaf_update(self, y, F, idx):    return float(np.mean((y - F)[idx]))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Algorithm 3 — LAD TreeBoost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With</a:t>
            </a:r>
          </a:p>
        </p:txBody>
      </p:sp>
      <p:pic>
        <p:nvPicPr>
          <p:cNvPr id="5" name="Picture 4" descr="82215de0d17074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25880"/>
            <a:ext cx="327236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9202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Pseudo-response:</a:t>
            </a:r>
          </a:p>
        </p:txBody>
      </p:sp>
      <p:pic>
        <p:nvPicPr>
          <p:cNvPr id="8" name="Picture 7" descr="40fcad20488dd4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920240"/>
            <a:ext cx="4184373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4231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Tree fit: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2316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by least squares to the signs of the residuals.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Initial constant:</a:t>
            </a:r>
          </a:p>
        </p:txBody>
      </p:sp>
      <p:pic>
        <p:nvPicPr>
          <p:cNvPr id="14" name="Picture 13" descr="55f75f0e3e79c6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926080"/>
            <a:ext cx="2787926" cy="457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02920" y="3520440"/>
            <a:ext cx="11155680" cy="10058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54864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520440"/>
            <a:ext cx="109270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>
                <a:solidFill>
                  <a:srgbClr val="1F2937"/>
                </a:solidFill>
                <a:latin typeface="Calibri"/>
              </a:rPr>
              <a:t>Crucial step: the per-leaf update is the median of residuals in the leaf, not the leaf mean. The tree's leaf values are overwritten with these medians.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754880"/>
            <a:ext cx="10424160" cy="96012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754880"/>
            <a:ext cx="54864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9c742f056b2d99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045" y="4864608"/>
            <a:ext cx="9361430" cy="7406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This is equation (18) specialized to L₁. It is what makes the method robust.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Algorithm 4 — M TreeBoost (Huber)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Calibri"/>
              </a:rPr>
              <a:t>Quadratic for small residuals, linear in the tail: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11155680" cy="13716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4c875ad2f935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4513"/>
            <a:ext cx="2011680" cy="540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1874520"/>
            <a:ext cx="502920" cy="1280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0">
                <a:solidFill>
                  <a:srgbClr val="1F2937"/>
                </a:solidFill>
                <a:latin typeface="Cambria"/>
              </a:rPr>
              <a:t>{</a:t>
            </a:r>
          </a:p>
        </p:txBody>
      </p:sp>
      <p:pic>
        <p:nvPicPr>
          <p:cNvPr id="8" name="Picture 7" descr="2e453a162e70a9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920240"/>
            <a:ext cx="4267082" cy="502920"/>
          </a:xfrm>
          <a:prstGeom prst="rect">
            <a:avLst/>
          </a:prstGeom>
        </p:spPr>
      </p:pic>
      <p:pic>
        <p:nvPicPr>
          <p:cNvPr id="9" name="Picture 8" descr="825f840d4b133a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560320"/>
            <a:ext cx="526131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33375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37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Adaptive δ:</a:t>
            </a:r>
          </a:p>
        </p:txBody>
      </p:sp>
      <p:pic>
        <p:nvPicPr>
          <p:cNvPr id="12" name="Picture 11" descr="5d0c60637f0d89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337560"/>
            <a:ext cx="6368142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37490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Pseudo-response:</a:t>
            </a:r>
          </a:p>
        </p:txBody>
      </p:sp>
      <p:pic>
        <p:nvPicPr>
          <p:cNvPr id="15" name="Picture 14" descr="c40b3d4bbd3efa7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749040"/>
            <a:ext cx="6177642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42062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Leaf update is Friedman's 1-step Newton-like adjustment around the leaf median: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54880"/>
            <a:ext cx="11155680" cy="10058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754880"/>
            <a:ext cx="54864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0f49aad30165b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8454" y="4864608"/>
            <a:ext cx="8024611" cy="7863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58704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where</a:t>
            </a:r>
          </a:p>
        </p:txBody>
      </p:sp>
      <p:pic>
        <p:nvPicPr>
          <p:cNvPr id="21" name="Picture 20" descr="de9096077880b56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5870448"/>
            <a:ext cx="3622765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The terminal-region update — the secret sauce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Two stages per iteration when the weak learner is a tree: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1F4E79"/>
                </a:solidFill>
                <a:latin typeface="Calibri"/>
              </a:rPr>
              <a:t>Build</a:t>
            </a:r>
            <a:r>
              <a:rPr sz="1600">
                <a:solidFill>
                  <a:srgbClr val="1F2937"/>
                </a:solidFill>
                <a:latin typeface="Calibri"/>
              </a:rPr>
              <a:t> a J-leaf tree by least squares on the pseudo-responses 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1F4E79"/>
                </a:solidFill>
                <a:latin typeface="Calibri"/>
              </a:rPr>
              <a:t>Re-solve</a:t>
            </a:r>
            <a:r>
              <a:rPr sz="1600">
                <a:solidFill>
                  <a:srgbClr val="1F2937"/>
                </a:solidFill>
                <a:latin typeface="Calibri"/>
              </a:rPr>
              <a:t> a tiny 1-D problem inside each leaf using the original loss: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834640"/>
            <a:ext cx="10058400" cy="9144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2834640"/>
            <a:ext cx="54864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5920a9ed6355a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175" y="2944368"/>
            <a:ext cx="5057490" cy="694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Calibri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31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Update:</a:t>
            </a:r>
          </a:p>
        </p:txBody>
      </p:sp>
      <p:pic>
        <p:nvPicPr>
          <p:cNvPr id="14" name="Picture 13" descr="c3caeb2f468f6d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931920"/>
            <a:ext cx="4636770" cy="365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02920" y="5349240"/>
            <a:ext cx="11155680" cy="105156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349240"/>
            <a:ext cx="54864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5349240"/>
            <a:ext cx="10927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Calibri"/>
              </a:rPr>
              <a:t>Why this is the crux:  the LS-fit tree is a fast, smooth gradient direction; the loss-specific γ_jm re-injects the original loss's geometry — robust medians for LAD, clipped sums for Huber, Newton steps for logistic.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From-scratch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One clean abstraction does all the work: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11155680" cy="16916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150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2937"/>
                </a:solidFill>
                <a:latin typeface="Consolas"/>
              </a:rPr>
              <a:t>class Loss(ABC):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2937"/>
                </a:solidFill>
                <a:latin typeface="Consolas"/>
              </a:rPr>
              <a:t>    def initial_prediction(self, y):           ...   # F_0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2937"/>
                </a:solidFill>
                <a:latin typeface="Consolas"/>
              </a:rPr>
              <a:t>    def negative_gradient(self, y, F):         ...   # ỹ_i   (line 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2937"/>
                </a:solidFill>
                <a:latin typeface="Consolas"/>
              </a:rPr>
              <a:t>    def leaf_update(self, y, F, indices):      ...   # γ_jm  (eq. 18)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2937"/>
                </a:solidFill>
                <a:latin typeface="Consolas"/>
              </a:rPr>
              <a:t>    def update_state(self, y, F):              ...   # e.g. Huber's δ_m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11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Three losses implement this contract; the boosting loop is loss-agnostic.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60520"/>
            <a:ext cx="36576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589788" cy="256032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TREE.PY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320040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  <a:latin typeface="Calibri"/>
              </a:rPr>
              <a:t>CART-style regression tree, best-first growth, vectorized split search. set_leaf_values() lets the boosting driver overwrite leaf means with γ.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160520"/>
            <a:ext cx="36576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4297680"/>
            <a:ext cx="745236" cy="256032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LOSSES.PY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663440"/>
            <a:ext cx="320040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  <a:latin typeface="Calibri"/>
              </a:rPr>
              <a:t>LS / LAD / Huber, each ~30 LOC. HuberLoss.update_state sets δ_m at each iteration.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4160520"/>
            <a:ext cx="36576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4297680"/>
            <a:ext cx="667512" cy="256032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MODEL.PY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663440"/>
            <a:ext cx="320040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  <a:latin typeface="Calibri"/>
              </a:rPr>
              <a:t>TreeBoostRegressor drives Algorithms 2 / 3 / 4 with shrinkage 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No scikit-learn, XGBoost, LightGBM, or CatBoost. Only numpy for arrays. 30 passing pytest tests.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Custom regression tree (the weak learner)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F4E79"/>
                </a:solidFill>
                <a:latin typeface="Calibri"/>
              </a:rPr>
              <a:t>Best-first growth</a:t>
            </a:r>
            <a:r>
              <a:rPr sz="1500">
                <a:solidFill>
                  <a:srgbClr val="1F2937"/>
                </a:solidFill>
                <a:latin typeface="Calibri"/>
              </a:rPr>
              <a:t> — repeatedly expand the leaf with the highest SSE-reduction split until max_leaves = J is reached.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F4E79"/>
                </a:solidFill>
                <a:latin typeface="Calibri"/>
              </a:rPr>
              <a:t>Vectorized split search</a:t>
            </a:r>
            <a:r>
              <a:rPr sz="1500">
                <a:solidFill>
                  <a:srgbClr val="1F2937"/>
                </a:solidFill>
                <a:latin typeface="Calibri"/>
              </a:rPr>
              <a:t> — sort each feature column, pre-compute cumulative sums of ỹ, evaluate all valid split points in one shot: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7589520" cy="91440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3383280"/>
            <a:ext cx="54864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505ffb4aa466ee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965" y="3493008"/>
            <a:ext cx="4513590" cy="694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434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F4E79"/>
                </a:solidFill>
                <a:latin typeface="Calibri"/>
              </a:rPr>
              <a:t>Honors J directly</a:t>
            </a:r>
            <a:r>
              <a:rPr sz="1500">
                <a:solidFill>
                  <a:srgbClr val="1F2937"/>
                </a:solidFill>
                <a:latin typeface="Calibri"/>
              </a:rPr>
              <a:t> — same complexity knob the paper uses (Section 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F4E79"/>
                </a:solidFill>
                <a:latin typeface="Calibri"/>
              </a:rPr>
              <a:t>Leaf-id API (apply, set_leaf_values)</a:t>
            </a:r>
            <a:r>
              <a:rPr sz="1500">
                <a:solidFill>
                  <a:srgbClr val="1F2937"/>
                </a:solidFill>
                <a:latin typeface="Calibri"/>
              </a:rPr>
              <a:t> — boosting driver maps each row to its leaf, computes γ_jm per leaf, and overwrites the LS leaf means.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Roughly 200 lines, deterministic, and readable. Built for correctness over throughput.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Experiment 1 — convergence on a clean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Friedman-#1 target</a:t>
            </a:r>
          </a:p>
        </p:txBody>
      </p:sp>
      <p:pic>
        <p:nvPicPr>
          <p:cNvPr id="5" name="Picture 4" descr="026814b9f2c5c7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7203"/>
            <a:ext cx="5669280" cy="3603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1945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Train / test:</a:t>
            </a:r>
          </a:p>
        </p:txBody>
      </p:sp>
      <p:pic>
        <p:nvPicPr>
          <p:cNvPr id="7" name="Picture 6" descr="405dcc56df1989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251417"/>
            <a:ext cx="3931920" cy="2520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5603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Boosting:</a:t>
            </a:r>
          </a:p>
        </p:txBody>
      </p:sp>
      <p:pic>
        <p:nvPicPr>
          <p:cNvPr id="9" name="Picture 8" descr="60d1638f43d4b5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2626071"/>
            <a:ext cx="3931920" cy="234257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017520"/>
          <a:ext cx="54864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4E79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45720" marR="45720" marT="22860" marB="22860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4E79"/>
                          </a:solidFill>
                          <a:latin typeface="Calibri"/>
                        </a:rPr>
                        <a:t>test MSE</a:t>
                      </a:r>
                    </a:p>
                  </a:txBody>
                  <a:tcPr marL="45720" marR="45720" marT="22860" marB="22860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4E79"/>
                          </a:solidFill>
                          <a:latin typeface="Calibri"/>
                        </a:rPr>
                        <a:t>test MAE</a:t>
                      </a:r>
                    </a:p>
                  </a:txBody>
                  <a:tcPr marL="45720" marR="45720" marT="22860" marB="22860">
                    <a:solidFill>
                      <a:srgbClr val="E8EEF5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LS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1.989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1.136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LAD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2.309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1.194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1.977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1.124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846320"/>
            <a:ext cx="5486400" cy="118872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846320"/>
            <a:ext cx="54864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846320"/>
            <a:ext cx="5257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Calibri"/>
              </a:rPr>
              <a:t>Under Gaussian noise: LS ≈ Huber; LAD pays the classical small efficiency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nvergence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17320"/>
            <a:ext cx="5303520" cy="3840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6364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Train (blue) and validation (orange) loss curves per iteration.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Experiment 2 — robustness under contamination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Same target, but 10% of training labels perturbed by heavy-tailed shocks</a:t>
            </a:r>
          </a:p>
        </p:txBody>
      </p:sp>
      <p:pic>
        <p:nvPicPr>
          <p:cNvPr id="5" name="Picture 4" descr="851ee178bf6ccd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5141021" cy="4114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423160"/>
          <a:ext cx="54864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4E79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45720" marR="45720" marT="22860" marB="22860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4E79"/>
                          </a:solidFill>
                          <a:latin typeface="Calibri"/>
                        </a:rPr>
                        <a:t>clean MSE</a:t>
                      </a:r>
                    </a:p>
                  </a:txBody>
                  <a:tcPr marL="45720" marR="45720" marT="22860" marB="22860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4E79"/>
                          </a:solidFill>
                          <a:latin typeface="Calibri"/>
                        </a:rPr>
                        <a:t>clean MAE</a:t>
                      </a:r>
                    </a:p>
                  </a:txBody>
                  <a:tcPr marL="45720" marR="45720" marT="22860" marB="22860">
                    <a:solidFill>
                      <a:srgbClr val="E8EEF5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LS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33.04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3.63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LAD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3.49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1.17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11.28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1.84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51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519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LS collapses — squared loss is dominated by outliers.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00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LAD recovers almost completely (medians ignore extremes).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49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4924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Huber is much better than LS, ranking depends on δ.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bustnes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5303520" cy="3840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Clean-test error per loss under 10% contamination.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Predicted vs true under contamination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3327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bustness_true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1014984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7772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669280"/>
            <a:ext cx="54864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5669280"/>
            <a:ext cx="10927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Calibri"/>
              </a:rPr>
              <a:t>LS predictions drift well off the diagonal; LAD and Huber stay calibrated despite the noisy training labels. This is the picture Section 4 of the paper promises.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Experiment 3 — shrinkage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LS Boost on the clean signal, sweeping the learning rate 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  <a:latin typeface="Calibri"/>
              </a:rPr>
              <a:t>ν = 1.0</a:t>
            </a:r>
            <a:r>
              <a:rPr sz="1400">
                <a:solidFill>
                  <a:srgbClr val="1F2937"/>
                </a:solidFill>
                <a:latin typeface="Calibri"/>
              </a:rPr>
              <a:t> : hits the floor in ~30 iterations, then plateaus.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2315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59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  <a:latin typeface="Calibri"/>
              </a:rPr>
              <a:t>ν = 0.1</a:t>
            </a:r>
            <a:r>
              <a:rPr sz="1400">
                <a:solidFill>
                  <a:srgbClr val="1F2937"/>
                </a:solidFill>
                <a:latin typeface="Calibri"/>
              </a:rPr>
              <a:t> : lower final validation MSE — but takes ~150–200 trees.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79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799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  <a:latin typeface="Calibri"/>
              </a:rPr>
              <a:t>ν = 0.05</a:t>
            </a:r>
            <a:r>
              <a:rPr sz="1400">
                <a:solidFill>
                  <a:srgbClr val="1F2937"/>
                </a:solidFill>
                <a:latin typeface="Calibri"/>
              </a:rPr>
              <a:t> : slowest; needs more iterations to compete.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57600"/>
            <a:ext cx="5486400" cy="128016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657600"/>
            <a:ext cx="54864" cy="1280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57600"/>
            <a:ext cx="5257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Calibri"/>
              </a:rPr>
              <a:t>Reproduces the standard recommendation that emerged from this paper: moderate shrinkage + larger M generalizes better.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rinkag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03520" cy="3840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6364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Validation MSE/2 vs boosting iteration for several ν values.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What worked &amp; what didn't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55321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66534"/>
                </a:solidFill>
                <a:latin typeface="Calibri"/>
              </a:rPr>
              <a:t>WORKED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6534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The 3-method Loss interface kept the boosting loop tiny and loss-agnostic.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6534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Best-first tree growth honored J cleanly with no extra plumbing.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6534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490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Unit tests written against the paper's equations (e.g. Algorithm 4 leaf update) caught the real bugs 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6534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Experiments reproduced the qualitative paper claims: LS = reality check, LAD/Huber robust, shrinkage helps.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55321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508760"/>
            <a:ext cx="1056132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B54708"/>
                </a:solidFill>
                <a:latin typeface="Calibri"/>
              </a:rPr>
              <a:t>HONEST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4708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9202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CART splitter is correct but slow — fine for a few hundred trees, not industrial.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4708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8346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No subsampling, no influence trimming (regression scope by design).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49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4708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7490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Huber's exact ranking depends strongly on the quantile chosen for δ.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663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54708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6634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LAD training loss is non-monotone per-iteration because sign(r) discards magnitude.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What the results reveal &amp; lasting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7315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What the results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Function-space framing isn't just exposition. Once Loss exposes three methods, adding a new regression loss takes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The terminal-region update is the practical heart. Without it, LAD would degenerate; with it, leaves carry medians and the method is genuinely robust.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Robustness has a small efficiency cost. LAD ≈16% worse than LS on clean data; LS ≈10× worse than LAD under contamination — the asymmetry favors using a robust default.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Shrinkage = nearly-free regularization. Smaller ν, larger M, better generalization, more compute.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348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The paper's lasting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8463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Unified boosting. Loss-agnostic boosting became the standard framing.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49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3492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Modern descendants: XGBoost (2014, 2nd-order, regularization, sparsity), LightGBM (2017, histograms, leaf-wise growth), CatBoost (2018, ordered boosting, target encoding).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52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852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Interpretation tools (variable importance, partial dependence) come straight from this paper's TreeBoost section.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Friedman (2001) — Greedy Function Approximation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F4E79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6B7280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Code, tests, experiments, and analysis writeup are all in the project repo.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onsolas"/>
              </a:rPr>
              <a:t>src/treeboost/   ·   tests/   ·   experiments/   ·   analysis.md   ·  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